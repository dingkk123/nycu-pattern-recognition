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Cambria Math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font" Target="fonts/CambriaMath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69b22b591e_0_0:notes"/>
          <p:cNvSpPr txBox="1"/>
          <p:nvPr/>
        </p:nvSpPr>
        <p:spPr>
          <a:xfrm>
            <a:off x="3885453" y="8686373"/>
            <a:ext cx="29709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4700" lIns="89375" spcFirstLastPara="1" rIns="89375" wrap="square" tIns="44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269b22b591e_0_0:notes"/>
          <p:cNvSpPr/>
          <p:nvPr>
            <p:ph idx="2" type="sldImg"/>
          </p:nvPr>
        </p:nvSpPr>
        <p:spPr>
          <a:xfrm>
            <a:off x="130863" y="685057"/>
            <a:ext cx="6596400" cy="343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269b22b591e_0_0:notes"/>
          <p:cNvSpPr txBox="1"/>
          <p:nvPr>
            <p:ph idx="1" type="body"/>
          </p:nvPr>
        </p:nvSpPr>
        <p:spPr>
          <a:xfrm>
            <a:off x="685480" y="4343918"/>
            <a:ext cx="54870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700" lIns="89375" spcFirstLastPara="1" rIns="89375" wrap="square" tIns="44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69b22b591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69b22b591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9b22b591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9b22b59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Here are some links about this assignment, and these links are on E3 system too.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00d81c1a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00d81c1a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d39c446e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d39c446e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d39c446e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dd39c446e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dd39c446e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dd39c446e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e38ae45c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e38ae45c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e38ae45c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de38ae45c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e38ae45c3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e38ae45c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69b22b591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69b22b591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As previously mentioned, you will be implementing linear regression using only NumPy. NumPy is a powerful Python library that supports a wide range of array operations. We recommend that you have a basic understanding of NumPy before getting started. For instance, when performing element-wise multiplication, avoid writing code like this and instead utilize NumPy's multiplication function. Similarly, if you need to calculate element-wise square roots, there's no need to use the math library; simply use NumPy's numpy.sqrt() function.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d39c446e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dd39c446e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6bae82475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6bae82475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e38ae45c3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de38ae45c3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69b22b591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69b22b591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About the report, please follow the report template format.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69b22b591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69b22b591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About submission, you have to Compress your code and report into a .zip file and submit it on E3. You should name your files correctly.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e38ae45c3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de38ae45c3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69b22b591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69b22b591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69b22b591e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69b22b591e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69b22b591e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69b22b591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69b22b591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69b22b591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_1">
    <p:bg>
      <p:bgPr>
        <a:gradFill>
          <a:gsLst>
            <a:gs pos="0">
              <a:srgbClr val="9A9ADF"/>
            </a:gs>
            <a:gs pos="31000">
              <a:srgbClr val="9A9ADF"/>
            </a:gs>
            <a:gs pos="100000">
              <a:srgbClr val="212167"/>
            </a:gs>
          </a:gsLst>
          <a:lin ang="10800025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107787" y="1400997"/>
            <a:ext cx="7036200" cy="240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/>
          <p:nvPr/>
        </p:nvSpPr>
        <p:spPr>
          <a:xfrm rot="10800000">
            <a:off x="395406" y="1400929"/>
            <a:ext cx="3331200" cy="2409000"/>
          </a:xfrm>
          <a:prstGeom prst="flowChartDelay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13"/>
          <p:cNvGrpSpPr/>
          <p:nvPr/>
        </p:nvGrpSpPr>
        <p:grpSpPr>
          <a:xfrm>
            <a:off x="3147004" y="4331494"/>
            <a:ext cx="1556778" cy="657676"/>
            <a:chOff x="-253" y="3137"/>
            <a:chExt cx="1281" cy="722"/>
          </a:xfrm>
        </p:grpSpPr>
        <p:sp>
          <p:nvSpPr>
            <p:cNvPr id="54" name="Google Shape;54;p13"/>
            <p:cNvSpPr/>
            <p:nvPr/>
          </p:nvSpPr>
          <p:spPr>
            <a:xfrm>
              <a:off x="600" y="3137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1028" y="3476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731" y="3627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96" y="3859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-196" y="3265"/>
              <a:ext cx="0" cy="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-60" y="3438"/>
              <a:ext cx="300" cy="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" name="Google Shape;60;p13"/>
            <p:cNvCxnSpPr/>
            <p:nvPr/>
          </p:nvCxnSpPr>
          <p:spPr>
            <a:xfrm rot="10800000">
              <a:off x="420" y="3521"/>
              <a:ext cx="600" cy="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 rot="10800000">
              <a:off x="-253" y="3310"/>
              <a:ext cx="600" cy="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347" y="3302"/>
              <a:ext cx="300" cy="30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 flipH="1">
              <a:off x="313" y="3249"/>
              <a:ext cx="300" cy="30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0" y="3521"/>
              <a:ext cx="300" cy="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340" y="3521"/>
              <a:ext cx="0" cy="30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 rot="10800000">
              <a:off x="449" y="3686"/>
              <a:ext cx="300" cy="0"/>
            </a:xfrm>
            <a:prstGeom prst="straightConnector1">
              <a:avLst/>
            </a:prstGeom>
            <a:noFill/>
            <a:ln cap="flat" cmpd="sng" w="222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圖片1" id="67" name="Google Shape;67;p13"/>
          <p:cNvPicPr preferRelativeResize="0"/>
          <p:nvPr/>
        </p:nvPicPr>
        <p:blipFill rotWithShape="1">
          <a:blip r:embed="rId2">
            <a:alphaModFix/>
          </a:blip>
          <a:srcRect b="24276" l="0" r="15597" t="8401"/>
          <a:stretch/>
        </p:blipFill>
        <p:spPr>
          <a:xfrm>
            <a:off x="5303838" y="0"/>
            <a:ext cx="2880121" cy="1383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圖片1" id="68" name="Google Shape;68;p13"/>
          <p:cNvPicPr preferRelativeResize="0"/>
          <p:nvPr/>
        </p:nvPicPr>
        <p:blipFill rotWithShape="1">
          <a:blip r:embed="rId3">
            <a:alphaModFix/>
          </a:blip>
          <a:srcRect b="0" l="0" r="21905" t="28891"/>
          <a:stretch/>
        </p:blipFill>
        <p:spPr>
          <a:xfrm>
            <a:off x="6659563" y="3813572"/>
            <a:ext cx="1863326" cy="10227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圖片2" id="69" name="Google Shape;69;p13"/>
          <p:cNvPicPr preferRelativeResize="0"/>
          <p:nvPr/>
        </p:nvPicPr>
        <p:blipFill rotWithShape="1">
          <a:blip r:embed="rId4">
            <a:alphaModFix/>
          </a:blip>
          <a:srcRect b="0" l="14632" r="0" t="0"/>
          <a:stretch/>
        </p:blipFill>
        <p:spPr>
          <a:xfrm>
            <a:off x="0" y="3734991"/>
            <a:ext cx="1382317" cy="9775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圖片2" id="70" name="Google Shape;70;p13"/>
          <p:cNvPicPr preferRelativeResize="0"/>
          <p:nvPr/>
        </p:nvPicPr>
        <p:blipFill rotWithShape="1">
          <a:blip r:embed="rId5">
            <a:alphaModFix/>
          </a:blip>
          <a:srcRect b="21783" l="0" r="0" t="0"/>
          <a:stretch/>
        </p:blipFill>
        <p:spPr>
          <a:xfrm>
            <a:off x="1044575" y="4455319"/>
            <a:ext cx="1457324" cy="688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709" y="1529023"/>
            <a:ext cx="2178186" cy="217818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buNone/>
              <a:defRPr sz="1300"/>
            </a:lvl1pPr>
            <a:lvl2pPr lvl="1" rtl="0">
              <a:buNone/>
              <a:defRPr sz="1300"/>
            </a:lvl2pPr>
            <a:lvl3pPr lvl="2" rtl="0">
              <a:buNone/>
              <a:defRPr sz="1300"/>
            </a:lvl3pPr>
            <a:lvl4pPr lvl="3" rtl="0">
              <a:buNone/>
              <a:defRPr sz="1300"/>
            </a:lvl4pPr>
            <a:lvl5pPr lvl="4" rtl="0">
              <a:buNone/>
              <a:defRPr sz="1300"/>
            </a:lvl5pPr>
            <a:lvl6pPr lvl="5" rtl="0">
              <a:buNone/>
              <a:defRPr sz="1300"/>
            </a:lvl6pPr>
            <a:lvl7pPr lvl="6" rtl="0">
              <a:buNone/>
              <a:defRPr sz="1300"/>
            </a:lvl7pPr>
            <a:lvl8pPr lvl="7" rtl="0">
              <a:buNone/>
              <a:defRPr sz="1300"/>
            </a:lvl8pPr>
            <a:lvl9pPr lvl="8" rtl="0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document/d/1rixNgkgijlAONuesRCVHZk0TWsebJZTL/edit?usp=sharing&amp;ouid=116501711728929901941&amp;rtpof=true&amp;sd=true" TargetMode="External"/><Relationship Id="rId4" Type="http://schemas.openxmlformats.org/officeDocument/2006/relationships/hyperlink" Target="https://www.kaggle.com/t/5c3a4b95b7664a05afe661578dfe129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hyperlink" Target="https://www.kaggle.com/t/5c3a4b95b7664a05afe661578dfe129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n.wikipedia.org/wiki/Ablation_(artificial_intelligence)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numpy.org/doc/stable/user/absolute_beginners.html" TargetMode="External"/><Relationship Id="rId4" Type="http://schemas.openxmlformats.org/officeDocument/2006/relationships/hyperlink" Target="https://pytorch.org/tutorials/beginner/basics/quickstart_tutorial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conda.io/en/latest/" TargetMode="External"/><Relationship Id="rId4" Type="http://schemas.openxmlformats.org/officeDocument/2006/relationships/hyperlink" Target="https://docs.conda.io/projects/miniconda/en/latest/" TargetMode="External"/><Relationship Id="rId5" Type="http://schemas.openxmlformats.org/officeDocument/2006/relationships/hyperlink" Target="https://virtualenv.pypa.io/en/latest/" TargetMode="External"/><Relationship Id="rId6" Type="http://schemas.openxmlformats.org/officeDocument/2006/relationships/hyperlink" Target="https://www.google.com/url?sa=t&amp;rct=j&amp;q=&amp;esrc=s&amp;source=web&amp;cd=&amp;ved=2ahUKEwjM8bmGv-OCAxXGbd4KHYBTDa8QFnoECAoQAQ&amp;url=https%3A%2F%2Fresearch.google.com%2Fcolaboratory%2F&amp;usg=AOvVaw38J01zt_Dlb6pQ1fe6FGrI&amp;opi=89978449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rixNgkgijlAONuesRCVHZk0TWsebJZTL/edit?usp=sharing&amp;ouid=116501711728929901941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research.google.com/colaboratory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3144750" y="2114703"/>
            <a:ext cx="56520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2024 Spring Pattern Recognition</a:t>
            </a:r>
            <a:endParaRPr b="1" sz="2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TW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lang="zh-TW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omework 4 Announcement</a:t>
            </a:r>
            <a:endParaRPr b="1" i="1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508150" y="3028800"/>
            <a:ext cx="32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Release Date: 2024/05/22 12:00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Homework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1152475"/>
            <a:ext cx="8520600" cy="3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Deadline: 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23:59, Jun. 12th (Wed), 202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Kaggle and Report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(70%): Participat in the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Kaggle competition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and write reports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Competition (50%): Get good score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Report (20%): Description and 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 related to 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your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 method.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Handwritten Questions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(30%): Answer questions about deep learning.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Answer the questions in the report.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b="1" lang="zh-TW" sz="1600" u="sng">
                <a:latin typeface="Times New Roman"/>
                <a:ea typeface="Times New Roman"/>
                <a:cs typeface="Times New Roman"/>
                <a:sym typeface="Times New Roman"/>
              </a:rPr>
              <a:t>must use the template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 and in </a:t>
            </a:r>
            <a:r>
              <a:rPr b="1" lang="zh-TW" sz="1600" u="sng">
                <a:latin typeface="Times New Roman"/>
                <a:ea typeface="Times New Roman"/>
                <a:cs typeface="Times New Roman"/>
                <a:sym typeface="Times New Roman"/>
              </a:rPr>
              <a:t>digital-typed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zh-TW" sz="1600">
                <a:latin typeface="Times New Roman"/>
                <a:ea typeface="Times New Roman"/>
                <a:cs typeface="Times New Roman"/>
                <a:sym typeface="Times New Roman"/>
              </a:rPr>
              <a:t>no handwritten scan</a:t>
            </a: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In English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Links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152475"/>
            <a:ext cx="8520600" cy="3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Questions and Report template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Link to Kaggle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4350700" y="1045300"/>
            <a:ext cx="3230100" cy="960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350700" y="2109674"/>
            <a:ext cx="3230100" cy="90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Convolutional Neural Networks for Bag Classification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152475"/>
            <a:ext cx="3747000" cy="38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 hide some target image inside a bag (seqence) of image, FIND IT OUT!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zh-TW"/>
              <a:t>Positive if a bag contains at least one target, otherwise negative.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Hint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zh-TW"/>
              <a:t>Multiple Instance Learning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zh-TW"/>
              <a:t>Extract features from images first then classify.</a:t>
            </a:r>
            <a:endParaRPr/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54126" l="0" r="0" t="0"/>
          <a:stretch/>
        </p:blipFill>
        <p:spPr>
          <a:xfrm>
            <a:off x="4528350" y="1190150"/>
            <a:ext cx="2929949" cy="72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6447" y="3204724"/>
            <a:ext cx="4811654" cy="162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 b="0" l="0" r="0" t="51902"/>
          <a:stretch/>
        </p:blipFill>
        <p:spPr>
          <a:xfrm>
            <a:off x="4528350" y="2185625"/>
            <a:ext cx="2929949" cy="7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7580800" y="1374850"/>
            <a:ext cx="12516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Positive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7580800" y="2410875"/>
            <a:ext cx="1308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Negative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375" y="1263525"/>
            <a:ext cx="6209028" cy="379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Join the Competition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1152475"/>
            <a:ext cx="8520600" cy="23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Link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7329600" y="1263525"/>
            <a:ext cx="953700" cy="287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4075" y="1184650"/>
            <a:ext cx="6201274" cy="31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Download the Dataset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2377500" y="1221675"/>
            <a:ext cx="352800" cy="222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649" y="3507675"/>
            <a:ext cx="4867350" cy="125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8203250" y="4520800"/>
            <a:ext cx="666000" cy="222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800" y="1906550"/>
            <a:ext cx="6954025" cy="309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512875" y="1208125"/>
            <a:ext cx="85206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You must set your team name as your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student ID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Set the Team Name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802475" y="1958900"/>
            <a:ext cx="444300" cy="299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1499325" y="4153575"/>
            <a:ext cx="1471500" cy="44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311700" y="1152475"/>
            <a:ext cx="8520600" cy="3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You are allowed to use any open-source resources/libraries but you must specify them in the report.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model architecture (ex: ResNet, ViT, etc. 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pre-trained weights (ex: ImageNet)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The only rule is that you have to train (finetune) your model by yourself!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Competition Rules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Grading Criteria – Performance (50%)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017725"/>
            <a:ext cx="8520600" cy="22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Public leaderboard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For you as a reference (similar distribution to the private)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Private leaderboard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(25%) Baseline: </a:t>
            </a:r>
            <a:r>
              <a:rPr b="1" lang="zh-TW" sz="1600">
                <a:latin typeface="Times New Roman"/>
                <a:ea typeface="Times New Roman"/>
                <a:cs typeface="Times New Roman"/>
                <a:sym typeface="Times New Roman"/>
              </a:rPr>
              <a:t>accuracy &gt;= 0.76 (Weak baseline)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○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(25%) Compete with your classmates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■"/>
            </a:pPr>
            <a:r>
              <a:rPr lang="zh-TW" sz="1600">
                <a:latin typeface="Times New Roman"/>
                <a:ea typeface="Times New Roman"/>
                <a:cs typeface="Times New Roman"/>
                <a:sym typeface="Times New Roman"/>
              </a:rPr>
              <a:t>Tie rule: less submissions rank first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151" name="Google Shape;151;p22"/>
          <p:cNvCxnSpPr/>
          <p:nvPr/>
        </p:nvCxnSpPr>
        <p:spPr>
          <a:xfrm>
            <a:off x="1294200" y="3880850"/>
            <a:ext cx="7012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2"/>
          <p:cNvCxnSpPr/>
          <p:nvPr/>
        </p:nvCxnSpPr>
        <p:spPr>
          <a:xfrm>
            <a:off x="1294200" y="3660650"/>
            <a:ext cx="0" cy="440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2"/>
          <p:cNvCxnSpPr/>
          <p:nvPr/>
        </p:nvCxnSpPr>
        <p:spPr>
          <a:xfrm>
            <a:off x="5120400" y="3660650"/>
            <a:ext cx="0" cy="440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2"/>
          <p:cNvCxnSpPr/>
          <p:nvPr/>
        </p:nvCxnSpPr>
        <p:spPr>
          <a:xfrm>
            <a:off x="8307000" y="3660650"/>
            <a:ext cx="0" cy="440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2"/>
          <p:cNvSpPr txBox="1"/>
          <p:nvPr/>
        </p:nvSpPr>
        <p:spPr>
          <a:xfrm>
            <a:off x="190000" y="3272675"/>
            <a:ext cx="101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1138300" y="3272675"/>
            <a:ext cx="33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190000" y="4049125"/>
            <a:ext cx="101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1138300" y="4049125"/>
            <a:ext cx="331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4759200" y="3272675"/>
            <a:ext cx="7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0.76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7455450" y="3272675"/>
            <a:ext cx="1703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accuracy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4797900" y="4049125"/>
            <a:ext cx="645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7686750" y="4049125"/>
            <a:ext cx="1240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zh-TW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%+25%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2467150" y="4568875"/>
            <a:ext cx="147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interpolation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6004050" y="4568875"/>
            <a:ext cx="147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interpolation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5" name="Google Shape;165;p22"/>
          <p:cNvCxnSpPr>
            <a:stCxn id="158" idx="2"/>
            <a:endCxn id="163" idx="1"/>
          </p:cNvCxnSpPr>
          <p:nvPr/>
        </p:nvCxnSpPr>
        <p:spPr>
          <a:xfrm flipH="1" rot="-5400000">
            <a:off x="1713550" y="3999775"/>
            <a:ext cx="344400" cy="1163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2"/>
          <p:cNvCxnSpPr>
            <a:stCxn id="163" idx="3"/>
            <a:endCxn id="161" idx="2"/>
          </p:cNvCxnSpPr>
          <p:nvPr/>
        </p:nvCxnSpPr>
        <p:spPr>
          <a:xfrm flipH="1" rot="10800000">
            <a:off x="3943750" y="4409125"/>
            <a:ext cx="1176600" cy="344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7" name="Google Shape;167;p22"/>
          <p:cNvCxnSpPr>
            <a:stCxn id="164" idx="3"/>
            <a:endCxn id="162" idx="2"/>
          </p:cNvCxnSpPr>
          <p:nvPr/>
        </p:nvCxnSpPr>
        <p:spPr>
          <a:xfrm flipH="1" rot="10800000">
            <a:off x="7480650" y="4409125"/>
            <a:ext cx="826500" cy="3444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8" name="Google Shape;168;p22"/>
          <p:cNvCxnSpPr>
            <a:stCxn id="161" idx="2"/>
            <a:endCxn id="164" idx="1"/>
          </p:cNvCxnSpPr>
          <p:nvPr/>
        </p:nvCxnSpPr>
        <p:spPr>
          <a:xfrm flipH="1" rot="-5400000">
            <a:off x="5390100" y="4139425"/>
            <a:ext cx="344400" cy="883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Grading Criteria – Report (20%)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311700" y="1152475"/>
            <a:ext cx="8520600" cy="34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Implementation details (10%)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Model architecture &amp; hyperparameters (5%)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Training strategy (5%)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Experimental results (10%)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Evaluation metrics and learning curve (5%)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Ablation Study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(5%)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To prevent submission counts that affect final rank, you can run ablations on individual validation set split from training set by yourself.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Numpy &amp; PyTorch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311700" y="1152475"/>
            <a:ext cx="8520600" cy="29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Numpy Tutorial: </a:t>
            </a:r>
            <a:r>
              <a:rPr lang="zh-TW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PyTorch Tutorial: </a:t>
            </a: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Link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-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Free to use any modules and functions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Environment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5"/>
          <p:cNvSpPr txBox="1"/>
          <p:nvPr>
            <p:ph idx="1" type="body"/>
          </p:nvPr>
        </p:nvSpPr>
        <p:spPr>
          <a:xfrm>
            <a:off x="311700" y="1152475"/>
            <a:ext cx="8520600" cy="38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Python version: 3.9 or higher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If you have a GPU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Conda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Miniconda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virtualenv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If you don’t have a GPU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Google Colab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Handwritten Questions (30%)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311700" y="1152475"/>
            <a:ext cx="8520600" cy="38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u="sng"/>
              <a:t>2-1</a:t>
            </a:r>
            <a:r>
              <a:rPr b="1" lang="zh-TW"/>
              <a:t> (10%)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Why Sigmoid or Tanh is not preferred to be used as the activation function in the hidden layer of the neural network? Please answer in detail.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u="sng"/>
              <a:t>2-2</a:t>
            </a:r>
            <a:r>
              <a:rPr b="1" lang="zh-TW"/>
              <a:t> (10%)</a:t>
            </a:r>
            <a:r>
              <a:rPr lang="zh-TW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What is overfitting? Please provide at least three techniques with explanation to overcome this issue.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Handwritten Questions (30%)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311700" y="1152475"/>
            <a:ext cx="8520600" cy="38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u="sng"/>
              <a:t>2-3</a:t>
            </a:r>
            <a:r>
              <a:rPr b="1" lang="zh-TW"/>
              <a:t> (10%)</a:t>
            </a:r>
            <a:r>
              <a:rPr lang="zh-TW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valid kernel                 ,prove that the following proposed functions are or are not valid kernels. If one is not a valid kernel, give an example of                that the corresponding </a:t>
            </a:r>
            <a:r>
              <a:rPr lang="zh-TW" sz="20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K</a:t>
            </a: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not positive semidefinite and show its eigenvalues.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(reference: page 15 of 6.kernel_method.pdf)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 b="83397" l="44188" r="29681" t="2033"/>
          <a:stretch/>
        </p:blipFill>
        <p:spPr>
          <a:xfrm>
            <a:off x="2441849" y="1645950"/>
            <a:ext cx="883049" cy="34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/>
          <p:cNvPicPr preferRelativeResize="0"/>
          <p:nvPr/>
        </p:nvPicPr>
        <p:blipFill rotWithShape="1">
          <a:blip r:embed="rId3">
            <a:alphaModFix/>
          </a:blip>
          <a:srcRect b="83397" l="14535" r="62271" t="2033"/>
          <a:stretch/>
        </p:blipFill>
        <p:spPr>
          <a:xfrm>
            <a:off x="7351750" y="1923775"/>
            <a:ext cx="783825" cy="34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9" y="2619447"/>
            <a:ext cx="3435169" cy="12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Report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8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Please follow the report template format. (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-5pts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if not use the template)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Link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2" name="Google Shape;212;p28"/>
          <p:cNvSpPr/>
          <p:nvPr/>
        </p:nvSpPr>
        <p:spPr>
          <a:xfrm>
            <a:off x="2342900" y="2285200"/>
            <a:ext cx="2985600" cy="1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6160300" y="2285200"/>
            <a:ext cx="1334400" cy="1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6189085" y="2546660"/>
            <a:ext cx="1334400" cy="11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Submission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Compress your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code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report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into a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.zip file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and submit it to E3.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Report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should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be written in English. (-5 pts if not English)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400">
                <a:latin typeface="Times New Roman"/>
                <a:ea typeface="Times New Roman"/>
                <a:cs typeface="Times New Roman"/>
                <a:sym typeface="Times New Roman"/>
              </a:rPr>
              <a:t>&lt;STUDENT ID&gt;_HW4.zip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[YOUR CODE] (Make sure it is well-organized and can be executed)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Training code, Inference code, README, etc (README should contains how to setup your env and run the code)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Model weights: &lt;STUDENT ID&gt;_weight.txt (which contains a link to your google drive &amp; ensure the permission is granted)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&lt;STUDENT ID&gt;_HW4.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pdf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 .doc, .docx or others format)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Char char="●"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Don’t put the </a:t>
            </a:r>
            <a:r>
              <a:rPr lang="zh-TW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(e.g. train.csv / test.csv) and </a:t>
            </a:r>
            <a:r>
              <a:rPr lang="zh-TW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weights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submission file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zh-TW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-10 pts if you put the wrong things into zip file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Kaggle Submission Reproduction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311700" y="1152475"/>
            <a:ext cx="8520600" cy="3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Your inference file should be able to reproduce your kaggle submission.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You will load the model in your inference file (with the model weights you provide) and then generate your kaggle submission file.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For python file (inference.py)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It will be checked on our lab’s servers. (NVidia 2080Ti, cuda 11.3)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Please provide a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environment setup instruction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which can help us quickly rebuild your environment and accurately reproduce your results.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For jupyter notebook file (inference.ipynb)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It will be checked on </a:t>
            </a:r>
            <a:r>
              <a:rPr lang="zh-TW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Google Colab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Please include the necessary </a:t>
            </a: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pip install instructions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in the first cell.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Other rules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31"/>
          <p:cNvSpPr txBox="1"/>
          <p:nvPr>
            <p:ph idx="1" type="body"/>
          </p:nvPr>
        </p:nvSpPr>
        <p:spPr>
          <a:xfrm>
            <a:off x="0" y="1152475"/>
            <a:ext cx="914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Late Policy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Delay allowed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this time. (delayed, a.k.a. submission closed)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Char char="○"/>
            </a:pPr>
            <a:r>
              <a:rPr b="1"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will get 0 pts on HW4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zh-TW" u="sng">
                <a:latin typeface="Times New Roman"/>
                <a:ea typeface="Times New Roman"/>
                <a:cs typeface="Times New Roman"/>
                <a:sym typeface="Times New Roman"/>
              </a:rPr>
              <a:t>No Plagiarism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: You should complete the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by yourself. Students engaged in plagiarism will be penalized heavily. Super serious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penalty.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 for the assignment or failed this course, etc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Char char="○"/>
            </a:pPr>
            <a:r>
              <a:rPr lang="zh-TW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to academic integrity office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5978" y="3477325"/>
            <a:ext cx="2967346" cy="16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2900" y="701375"/>
            <a:ext cx="1400426" cy="140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AI-Assistant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311700" y="1152475"/>
            <a:ext cx="8520600" cy="26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Not recommended but no forbidden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zh-TW">
                <a:solidFill>
                  <a:srgbClr val="FF0000"/>
                </a:solidFill>
              </a:rPr>
              <a:t>Copy-and-Paste answers from the AI-Assiant will be seen as Plagiarism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However, you can have your own answer first then rephrase it by AI-Assiant.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Some questions might be parts of final exam, make sure you understand the concept</a:t>
            </a:r>
            <a:endParaRPr/>
          </a:p>
        </p:txBody>
      </p:sp>
      <p:pic>
        <p:nvPicPr>
          <p:cNvPr id="244" name="Google Shape;24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368" y="3336525"/>
            <a:ext cx="3212408" cy="180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46" name="Google Shape;24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7776" y="3336525"/>
            <a:ext cx="1977774" cy="18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FAQs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33"/>
          <p:cNvSpPr txBox="1"/>
          <p:nvPr>
            <p:ph idx="1" type="body"/>
          </p:nvPr>
        </p:nvSpPr>
        <p:spPr>
          <a:xfrm>
            <a:off x="311700" y="1152475"/>
            <a:ext cx="8709300" cy="3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If you have other questions, ask on </a:t>
            </a:r>
            <a:r>
              <a:rPr b="1" lang="zh-TW">
                <a:latin typeface="Times New Roman"/>
                <a:ea typeface="Times New Roman"/>
                <a:cs typeface="Times New Roman"/>
                <a:sym typeface="Times New Roman"/>
              </a:rPr>
              <a:t>E3 forum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 first! We will reply as soon as possible.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If the E3 discussion area still have issues, feel free to write email to TAs (And remember to cc all TAs).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Have Fun!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60" name="Google Shape;26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1838" y="356475"/>
            <a:ext cx="4700325" cy="470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